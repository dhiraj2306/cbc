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78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56" r:id="rId13"/>
    <p:sldId id="273" r:id="rId14"/>
    <p:sldId id="274" r:id="rId15"/>
    <p:sldId id="275" r:id="rId16"/>
    <p:sldId id="260" r:id="rId17"/>
    <p:sldId id="276" r:id="rId18"/>
    <p:sldId id="277" r:id="rId19"/>
    <p:sldId id="272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32A93B-BBBA-4D95-8FCF-6C5E7E571D7B}" v="243" dt="2026-02-20T18:37:58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 autoAdjust="0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0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37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3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0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62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1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67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06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1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8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0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1582A-5043-5BD8-5F24-88D58E34F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608" y="668593"/>
            <a:ext cx="8613365" cy="707922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4800" b="1" dirty="0"/>
          </a:p>
          <a:p>
            <a:pPr marL="0" indent="0">
              <a:buNone/>
            </a:pPr>
            <a:endParaRPr lang="en-IN" sz="4800" b="1" dirty="0"/>
          </a:p>
          <a:p>
            <a:pPr marL="0" indent="0">
              <a:buNone/>
            </a:pPr>
            <a:endParaRPr lang="en-IN" sz="4800" b="1" dirty="0"/>
          </a:p>
          <a:p>
            <a:pPr marL="0" indent="0">
              <a:buNone/>
            </a:pPr>
            <a:r>
              <a:rPr lang="en-IN" sz="4800" b="1" dirty="0"/>
              <a:t>       ROTATOR CUFF INJURY </a:t>
            </a:r>
          </a:p>
          <a:p>
            <a:pPr marL="0" indent="0" algn="ctr">
              <a:buNone/>
            </a:pPr>
            <a:endParaRPr lang="en-IN" sz="4800" b="1" dirty="0"/>
          </a:p>
          <a:p>
            <a:pPr marL="0" indent="0" algn="ctr">
              <a:buNone/>
            </a:pPr>
            <a:endParaRPr lang="en-IN" sz="4800" b="1" dirty="0"/>
          </a:p>
          <a:p>
            <a:pPr marL="0" indent="0" algn="ctr">
              <a:buNone/>
            </a:pPr>
            <a:r>
              <a:rPr lang="en-IN" sz="3200" b="1" dirty="0"/>
              <a:t>                                                   PRATHIBHA A </a:t>
            </a:r>
          </a:p>
          <a:p>
            <a:pPr marL="0" indent="0" algn="ctr">
              <a:buNone/>
            </a:pPr>
            <a:r>
              <a:rPr lang="en-IN" sz="3200" b="1" dirty="0"/>
              <a:t>                                                               MPT</a:t>
            </a:r>
          </a:p>
          <a:p>
            <a:pPr marL="0" indent="0" algn="ctr">
              <a:buNone/>
            </a:pP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250211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Rotator cuff injury is a major cause of shoulder pain and dysfunction.</a:t>
            </a:r>
          </a:p>
          <a:p>
            <a:r>
              <a:rPr b="1" dirty="0"/>
              <a:t>Common in elderly individuals and overhead activity workers.</a:t>
            </a:r>
          </a:p>
          <a:p>
            <a:r>
              <a:rPr b="1" dirty="0"/>
              <a:t>Leads to weakness, reduced function, and impaired biomechanics.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8085"/>
          </a:xfrm>
        </p:spPr>
        <p:txBody>
          <a:bodyPr>
            <a:normAutofit/>
          </a:bodyPr>
          <a:lstStyle/>
          <a:p>
            <a:r>
              <a:rPr lang="en-IN" b="1" dirty="0"/>
              <a:t>SHOULDER ANATOMY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0542"/>
            <a:ext cx="8229600" cy="4985621"/>
          </a:xfrm>
        </p:spPr>
        <p:txBody>
          <a:bodyPr>
            <a:normAutofit/>
          </a:bodyPr>
          <a:lstStyle/>
          <a:p>
            <a:r>
              <a:rPr b="1" dirty="0"/>
              <a:t>Glenohumeral joint – ball and socket joint.</a:t>
            </a:r>
          </a:p>
          <a:p>
            <a:r>
              <a:rPr b="1" dirty="0"/>
              <a:t>Bones: Humerus, Scapula, Clavicle.</a:t>
            </a:r>
          </a:p>
          <a:p>
            <a:r>
              <a:rPr b="1" dirty="0"/>
              <a:t>Stability mainly provided by muscles and ligaments.</a:t>
            </a:r>
          </a:p>
          <a:p>
            <a:r>
              <a:rPr b="1" dirty="0"/>
              <a:t>Rotator cuff surrounds humeral head.</a:t>
            </a:r>
            <a:endParaRPr lang="en-IN" b="1" dirty="0"/>
          </a:p>
          <a:p>
            <a:r>
              <a:rPr lang="en-IN" b="1" dirty="0"/>
              <a:t>FUNCTION: </a:t>
            </a:r>
            <a:r>
              <a:rPr lang="en-US" b="1" dirty="0"/>
              <a:t>Dynamic stabilization of humeral head.</a:t>
            </a:r>
          </a:p>
          <a:p>
            <a:r>
              <a:rPr lang="en-US" b="1" dirty="0"/>
              <a:t>Maintains joint congruency.</a:t>
            </a:r>
          </a:p>
          <a:p>
            <a:r>
              <a:rPr lang="en-US" b="1" dirty="0"/>
              <a:t>Prevents superior migration during elevation.</a:t>
            </a:r>
          </a:p>
          <a:p>
            <a:r>
              <a:rPr lang="en-US" b="1" dirty="0"/>
              <a:t>Assists coordinated shoulder movement.</a:t>
            </a:r>
            <a:endParaRPr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ROTATOR CUFF MUSCLES (SITS)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Supraspinatus – Initiates abduction</a:t>
            </a:r>
            <a:r>
              <a:rPr lang="en-IN" b="1" dirty="0"/>
              <a:t>(0-15degree)</a:t>
            </a:r>
            <a:endParaRPr b="1" dirty="0"/>
          </a:p>
          <a:p>
            <a:r>
              <a:rPr b="1" dirty="0"/>
              <a:t>Infraspinatus – External rotation.</a:t>
            </a:r>
          </a:p>
          <a:p>
            <a:r>
              <a:rPr b="1" dirty="0"/>
              <a:t>Teres Minor – External rotation.</a:t>
            </a:r>
          </a:p>
          <a:p>
            <a:r>
              <a:rPr b="1" dirty="0"/>
              <a:t>Subscapularis – Internal rotation.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SHOULDER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Scapulohumeral rhythm ratio = 2:1.</a:t>
            </a:r>
          </a:p>
          <a:p>
            <a:r>
              <a:rPr b="1" dirty="0"/>
              <a:t>120° Glenohumeral motion + 60° scapular rotation.</a:t>
            </a:r>
          </a:p>
          <a:p>
            <a:r>
              <a:rPr b="1" dirty="0"/>
              <a:t>Force coupling between deltoid and rotator cuff.</a:t>
            </a:r>
          </a:p>
          <a:p>
            <a:r>
              <a:rPr b="1" dirty="0"/>
              <a:t>Concavity–compression mechanism stabilizes joint.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PATHOMECHANICS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Weak rotator cuff</a:t>
            </a:r>
            <a:r>
              <a:rPr lang="en-IN" b="1" dirty="0"/>
              <a:t> weakness or tear</a:t>
            </a:r>
            <a:r>
              <a:rPr b="1" dirty="0"/>
              <a:t> causes superior humeral migration.</a:t>
            </a:r>
          </a:p>
          <a:p>
            <a:r>
              <a:rPr b="1" dirty="0"/>
              <a:t>Subacromial impingement develops.</a:t>
            </a:r>
            <a:endParaRPr lang="en-IN" b="1" dirty="0"/>
          </a:p>
          <a:p>
            <a:r>
              <a:rPr lang="en-US" b="1" dirty="0"/>
              <a:t>Leads to pain and functional limitation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b="1" dirty="0"/>
              <a:t>Altered scapular movement (dyskinesis).</a:t>
            </a:r>
          </a:p>
          <a:p>
            <a:r>
              <a:rPr lang="en-IN" b="1" dirty="0"/>
              <a:t>Progressive tendon damage 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0E19A1C0-B8C0-C2EF-DCD2-62B2D6FFFF74}"/>
              </a:ext>
            </a:extLst>
          </p:cNvPr>
          <p:cNvSpPr/>
          <p:nvPr/>
        </p:nvSpPr>
        <p:spPr>
          <a:xfrm>
            <a:off x="3552888" y="2576052"/>
            <a:ext cx="153873" cy="18681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7CC6DB0-DFE0-7AA1-2FEF-366DF59692AE}"/>
              </a:ext>
            </a:extLst>
          </p:cNvPr>
          <p:cNvSpPr/>
          <p:nvPr/>
        </p:nvSpPr>
        <p:spPr>
          <a:xfrm>
            <a:off x="3539613" y="3129118"/>
            <a:ext cx="153873" cy="18681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83171EB-7046-DF71-1EFC-975F5F235411}"/>
              </a:ext>
            </a:extLst>
          </p:cNvPr>
          <p:cNvSpPr/>
          <p:nvPr/>
        </p:nvSpPr>
        <p:spPr>
          <a:xfrm>
            <a:off x="3570831" y="3672352"/>
            <a:ext cx="153873" cy="18681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6365CBFB-D91C-3861-76AD-BF83DE92A074}"/>
              </a:ext>
            </a:extLst>
          </p:cNvPr>
          <p:cNvSpPr/>
          <p:nvPr/>
        </p:nvSpPr>
        <p:spPr>
          <a:xfrm>
            <a:off x="3559525" y="4132011"/>
            <a:ext cx="140598" cy="18681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CAUSES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7470"/>
            <a:ext cx="8229600" cy="4708525"/>
          </a:xfrm>
        </p:spPr>
        <p:txBody>
          <a:bodyPr/>
          <a:lstStyle/>
          <a:p>
            <a:r>
              <a:rPr b="1" dirty="0"/>
              <a:t>Repetitive overhead activity</a:t>
            </a:r>
            <a:r>
              <a:rPr lang="en-IN" b="1" dirty="0"/>
              <a:t> causes tendinitis, bursa inflammation, tendon degeneration -  </a:t>
            </a:r>
          </a:p>
          <a:p>
            <a:pPr marL="0" indent="0">
              <a:buNone/>
            </a:pPr>
            <a:r>
              <a:rPr lang="en-IN" b="1" dirty="0"/>
              <a:t>       common in athletes, swimmers, others              occupational causes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b="1" dirty="0"/>
              <a:t>Age-related degeneration</a:t>
            </a:r>
            <a:r>
              <a:rPr lang="en-IN" b="1" dirty="0"/>
              <a:t> (age&gt;40 years)</a:t>
            </a:r>
            <a:endParaRPr b="1" dirty="0"/>
          </a:p>
          <a:p>
            <a:r>
              <a:rPr b="1" dirty="0"/>
              <a:t>Trauma or fall on outstretched hand.</a:t>
            </a:r>
            <a:endParaRPr lang="en-IN" b="1" dirty="0"/>
          </a:p>
          <a:p>
            <a:r>
              <a:rPr lang="en-IN" b="1" dirty="0"/>
              <a:t>Systemic causes- </a:t>
            </a:r>
            <a:r>
              <a:rPr lang="en-IN" b="1" dirty="0" err="1"/>
              <a:t>ndiabetes</a:t>
            </a:r>
            <a:r>
              <a:rPr lang="en-IN" b="1" dirty="0"/>
              <a:t>, thyroid </a:t>
            </a:r>
          </a:p>
          <a:p>
            <a:r>
              <a:rPr lang="en-IN" b="1" dirty="0"/>
              <a:t>Postural causes- rounded shoulders </a:t>
            </a:r>
            <a:endParaRPr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DEGREES OF TEARS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7961"/>
            <a:ext cx="8229600" cy="4248202"/>
          </a:xfrm>
        </p:spPr>
        <p:txBody>
          <a:bodyPr/>
          <a:lstStyle/>
          <a:p>
            <a:r>
              <a:rPr lang="en-IN" b="1" dirty="0"/>
              <a:t>Tendinitis </a:t>
            </a:r>
          </a:p>
          <a:p>
            <a:r>
              <a:rPr b="1" dirty="0"/>
              <a:t>Partial thickness tear – tendon partially damaged.</a:t>
            </a:r>
          </a:p>
          <a:p>
            <a:r>
              <a:rPr b="1" dirty="0"/>
              <a:t>Full thickness tear – complete tendon rupture.</a:t>
            </a:r>
          </a:p>
          <a:p>
            <a:r>
              <a:rPr b="1" dirty="0"/>
              <a:t>Massive tear – multiple tendons involved.</a:t>
            </a:r>
          </a:p>
          <a:p>
            <a:r>
              <a:rPr b="1" dirty="0"/>
              <a:t>Small (&lt;1 cm), Medium (1–3 cm), Large (3–5 cm), Massive (&gt;5 cm).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0378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CLINICAL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975" y="678427"/>
            <a:ext cx="8632722" cy="5751870"/>
          </a:xfrm>
        </p:spPr>
        <p:txBody>
          <a:bodyPr>
            <a:normAutofit/>
          </a:bodyPr>
          <a:lstStyle/>
          <a:p>
            <a:r>
              <a:rPr sz="2800" b="1" dirty="0"/>
              <a:t>History: </a:t>
            </a:r>
            <a:r>
              <a:rPr lang="en-IN" sz="2800" b="1" dirty="0"/>
              <a:t>-chief complaints -</a:t>
            </a:r>
            <a:r>
              <a:rPr sz="2800" b="1" dirty="0"/>
              <a:t>pain,</a:t>
            </a:r>
            <a:r>
              <a:rPr lang="en-IN" sz="2800" b="1" dirty="0"/>
              <a:t>difficulty in lifting arm,</a:t>
            </a:r>
            <a:r>
              <a:rPr sz="2800" b="1" dirty="0"/>
              <a:t> weakness</a:t>
            </a:r>
            <a:r>
              <a:rPr lang="en-IN" sz="2800" b="1" dirty="0"/>
              <a:t> overhead head activities</a:t>
            </a:r>
            <a:r>
              <a:rPr sz="2800" b="1" dirty="0"/>
              <a:t>, night pain</a:t>
            </a:r>
            <a:endParaRPr lang="en-IN" sz="2800" b="1" dirty="0"/>
          </a:p>
          <a:p>
            <a:pPr marL="0" indent="0">
              <a:buNone/>
            </a:pPr>
            <a:r>
              <a:rPr lang="en-IN" sz="2800" b="1" dirty="0"/>
              <a:t>             -mechanism of injury , duration of     symptoms, sports involvements, past history </a:t>
            </a:r>
          </a:p>
          <a:p>
            <a:r>
              <a:rPr sz="2800" b="1" dirty="0"/>
              <a:t>Observation: muscle wasting, posture</a:t>
            </a:r>
            <a:r>
              <a:rPr lang="en-IN" sz="2800" b="1" dirty="0"/>
              <a:t>, </a:t>
            </a:r>
            <a:endParaRPr sz="2800" b="1" dirty="0"/>
          </a:p>
          <a:p>
            <a:r>
              <a:rPr sz="2800" b="1" dirty="0"/>
              <a:t>Palpation: tenderness over greater tubercle</a:t>
            </a:r>
            <a:r>
              <a:rPr lang="en-IN" sz="2800" b="1" dirty="0"/>
              <a:t>, supraspinatus tendon, bicipital groove</a:t>
            </a:r>
            <a:r>
              <a:rPr sz="2800" b="1" dirty="0"/>
              <a:t>.</a:t>
            </a:r>
            <a:endParaRPr lang="en-IN" sz="2800" b="1" dirty="0"/>
          </a:p>
          <a:p>
            <a:r>
              <a:rPr lang="en-IN" sz="2800" b="1" dirty="0"/>
              <a:t>Scapular assessment </a:t>
            </a:r>
            <a:endParaRPr sz="2800" b="1" dirty="0"/>
          </a:p>
          <a:p>
            <a:r>
              <a:rPr lang="en-IN" sz="2800" b="1" dirty="0"/>
              <a:t>ROM- </a:t>
            </a:r>
            <a:r>
              <a:rPr sz="2800" b="1" dirty="0"/>
              <a:t>Painful arc between 60°–120°</a:t>
            </a:r>
            <a:r>
              <a:rPr lang="en-IN" sz="2800" b="1" dirty="0"/>
              <a:t> in active rom </a:t>
            </a:r>
          </a:p>
          <a:p>
            <a:r>
              <a:rPr lang="en-IN" sz="2800" b="1" dirty="0"/>
              <a:t>MMT </a:t>
            </a:r>
          </a:p>
          <a:p>
            <a:r>
              <a:rPr lang="en-IN" sz="2800" b="1" dirty="0"/>
              <a:t>Functional assessment </a:t>
            </a:r>
          </a:p>
          <a:p>
            <a:endParaRPr lang="en-IN" sz="2800" dirty="0"/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SPECIAL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Empty Can (Jobe’s) Test.</a:t>
            </a:r>
          </a:p>
          <a:p>
            <a:r>
              <a:rPr b="1" dirty="0"/>
              <a:t>Neer’s Impingement Test.</a:t>
            </a:r>
          </a:p>
          <a:p>
            <a:r>
              <a:rPr b="1" dirty="0"/>
              <a:t>Hawkins–Kennedy Test.</a:t>
            </a:r>
          </a:p>
          <a:p>
            <a:r>
              <a:rPr b="1" dirty="0"/>
              <a:t>Drop Arm Test.</a:t>
            </a:r>
          </a:p>
          <a:p>
            <a:r>
              <a:rPr b="1" dirty="0"/>
              <a:t>Lift-off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INVESTIGATIONS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X-ray – rule out bony pathology.</a:t>
            </a:r>
          </a:p>
          <a:p>
            <a:r>
              <a:rPr b="1" dirty="0"/>
              <a:t>Ultrasound – tendon visualization.</a:t>
            </a:r>
          </a:p>
          <a:p>
            <a:r>
              <a:rPr b="1" dirty="0"/>
              <a:t>MRI – gold standard for tear evaluation.</a:t>
            </a:r>
          </a:p>
          <a:p>
            <a:r>
              <a:rPr b="1" dirty="0"/>
              <a:t>Arthroscopy – confirmatory diagnosis.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2612" y="778234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POST‑OPERATIVE ROTATOR CUFF REPAIR REHABILITATION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/>
              <a:t>Return to Sports Protocol (Evidence‑Based)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PHASE 1: PROTECTION PHASE (0–6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b="1" dirty="0"/>
              <a:t>Goals: Protect repair, reduce pain, prevent stiffness</a:t>
            </a:r>
          </a:p>
          <a:p>
            <a:r>
              <a:rPr b="1" dirty="0"/>
              <a:t>Immobilization: Sling with abduction pillow</a:t>
            </a:r>
            <a:endParaRPr lang="en-IN" b="1" dirty="0"/>
          </a:p>
          <a:p>
            <a:r>
              <a:rPr lang="en-IN" b="1" dirty="0"/>
              <a:t>SWELLING MANAGEMENT</a:t>
            </a:r>
            <a:endParaRPr b="1" dirty="0"/>
          </a:p>
          <a:p>
            <a:r>
              <a:rPr b="1" dirty="0"/>
              <a:t>Exercises: Hand gripping, wrist &amp; elbow ROM</a:t>
            </a:r>
          </a:p>
          <a:p>
            <a:r>
              <a:rPr b="1" dirty="0"/>
              <a:t>Cervical ROM and posture correction</a:t>
            </a:r>
          </a:p>
          <a:p>
            <a:r>
              <a:rPr b="1" dirty="0"/>
              <a:t>Scapular setting exercises</a:t>
            </a:r>
          </a:p>
          <a:p>
            <a:r>
              <a:rPr b="1" dirty="0"/>
              <a:t>Pendulum (Codman) exercises</a:t>
            </a:r>
            <a:r>
              <a:rPr lang="en-IN" b="1" dirty="0"/>
              <a:t>, therapist assisted prom of flexion, passive external rotation (LIMITED RANGES)</a:t>
            </a:r>
            <a:endParaRPr b="1" dirty="0"/>
          </a:p>
          <a:p>
            <a:r>
              <a:rPr b="1" dirty="0"/>
              <a:t>Passive shoulder flexion &amp; limited ER</a:t>
            </a:r>
          </a:p>
          <a:p>
            <a:r>
              <a:rPr b="1" dirty="0"/>
              <a:t>Deep breathing and walking</a:t>
            </a:r>
          </a:p>
          <a:p>
            <a:r>
              <a:rPr b="1" dirty="0"/>
              <a:t>Precautions: No active shoulder movement or lifting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PHASE 2: PASSIVE → ACTIVE ASSISTED MOTION (6–12 WEEKS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/>
              <a:t>Goals: Restore ROM and initiate muscle activation</a:t>
            </a:r>
          </a:p>
          <a:p>
            <a:r>
              <a:rPr b="1" dirty="0"/>
              <a:t>Passive and assisted ROM exercises</a:t>
            </a:r>
          </a:p>
          <a:p>
            <a:r>
              <a:rPr b="1" dirty="0"/>
              <a:t>Wand exercises and pulley exercises</a:t>
            </a:r>
          </a:p>
          <a:p>
            <a:r>
              <a:rPr b="1" dirty="0"/>
              <a:t>Table slides and wall climbing</a:t>
            </a:r>
          </a:p>
          <a:p>
            <a:r>
              <a:rPr b="1" dirty="0"/>
              <a:t>Submaximal isometrics (IR, ER, Abduction)</a:t>
            </a:r>
          </a:p>
          <a:p>
            <a:r>
              <a:rPr b="1" dirty="0"/>
              <a:t>Scapular retraction and shoulder shrugs</a:t>
            </a:r>
          </a:p>
          <a:p>
            <a:r>
              <a:rPr b="1" dirty="0"/>
              <a:t>Serratus anterior assisted punches</a:t>
            </a:r>
          </a:p>
          <a:p>
            <a:r>
              <a:rPr b="1" dirty="0"/>
              <a:t>Precaution: Avoid resistance and sudden movements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PHASE 3: STRENGTHENING PHASE (12–20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/>
              <a:t>Goals: Improve strength and dynamic stability</a:t>
            </a:r>
          </a:p>
          <a:p>
            <a:r>
              <a:rPr b="1" dirty="0"/>
              <a:t>Active ROM in all planes</a:t>
            </a:r>
          </a:p>
          <a:p>
            <a:r>
              <a:rPr b="1" dirty="0" err="1"/>
              <a:t>Theraband</a:t>
            </a:r>
            <a:r>
              <a:rPr b="1" dirty="0"/>
              <a:t> strengthening (IR, ER, extension)</a:t>
            </a:r>
            <a:r>
              <a:rPr lang="en-IN" b="1" dirty="0"/>
              <a:t>,</a:t>
            </a:r>
            <a:r>
              <a:rPr lang="en-IN" b="1" dirty="0" err="1"/>
              <a:t>scaption</a:t>
            </a:r>
            <a:r>
              <a:rPr lang="en-IN" b="1" dirty="0"/>
              <a:t> with light weights, forward elevation </a:t>
            </a:r>
            <a:endParaRPr b="1" dirty="0"/>
          </a:p>
          <a:p>
            <a:r>
              <a:rPr b="1" dirty="0"/>
              <a:t>Horizontal abduction exercises</a:t>
            </a:r>
          </a:p>
          <a:p>
            <a:r>
              <a:rPr b="1" dirty="0"/>
              <a:t>Closed kinetic chain exercises (wall push-ups)</a:t>
            </a:r>
          </a:p>
          <a:p>
            <a:r>
              <a:rPr b="1" dirty="0"/>
              <a:t>Scapular strengthening </a:t>
            </a:r>
            <a:r>
              <a:rPr lang="en-US" b="1" dirty="0"/>
              <a:t>(lower trapezius, serratus anterior), Y,T rows </a:t>
            </a:r>
          </a:p>
          <a:p>
            <a:r>
              <a:rPr lang="en-US" b="1" dirty="0"/>
              <a:t>Postural correction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PHASE 4: ADVANCED STRENGTHENING (20–26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Goals: Improve power, endurance, neuromuscular control</a:t>
            </a:r>
          </a:p>
          <a:p>
            <a:r>
              <a:rPr b="1" dirty="0"/>
              <a:t>Progressive resistance exercises</a:t>
            </a:r>
          </a:p>
          <a:p>
            <a:r>
              <a:rPr b="1" dirty="0"/>
              <a:t>Plyometric drills (ball toss, rebounder throws)</a:t>
            </a:r>
          </a:p>
          <a:p>
            <a:r>
              <a:rPr b="1" dirty="0"/>
              <a:t>Rhythmic stabilization exercises</a:t>
            </a:r>
          </a:p>
          <a:p>
            <a:r>
              <a:rPr b="1" dirty="0"/>
              <a:t>Perturbation training</a:t>
            </a:r>
          </a:p>
          <a:p>
            <a:r>
              <a:rPr b="1" dirty="0"/>
              <a:t>Core strengthening exercises</a:t>
            </a:r>
          </a:p>
          <a:p>
            <a:r>
              <a:rPr b="1" dirty="0"/>
              <a:t>Functional movement 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PHASE 5: RETURN TO SPORTS (6–9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Criteria: Full ROM, ≥85–90% strength, no pain</a:t>
            </a:r>
          </a:p>
          <a:p>
            <a:r>
              <a:rPr b="1" dirty="0"/>
              <a:t>Sport-specific drills</a:t>
            </a:r>
          </a:p>
          <a:p>
            <a:r>
              <a:rPr b="1" dirty="0"/>
              <a:t>Interval throwing program (overhead athletes)</a:t>
            </a:r>
          </a:p>
          <a:p>
            <a:r>
              <a:rPr b="1" dirty="0"/>
              <a:t>Agility and endurance training</a:t>
            </a:r>
          </a:p>
          <a:p>
            <a:r>
              <a:rPr b="1" dirty="0"/>
              <a:t>Gradual increase in velocity and load</a:t>
            </a:r>
          </a:p>
          <a:p>
            <a:r>
              <a:rPr b="1" dirty="0"/>
              <a:t>Surgeon clearance required before competition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EXPECTED RETURN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Activities of Daily Living: ~3 months</a:t>
            </a:r>
          </a:p>
          <a:p>
            <a:r>
              <a:rPr b="1" dirty="0"/>
              <a:t>Light gym activities: 4–5 months</a:t>
            </a:r>
          </a:p>
          <a:p>
            <a:r>
              <a:rPr b="1" dirty="0"/>
              <a:t>Recreational sports: ~6 months</a:t>
            </a:r>
          </a:p>
          <a:p>
            <a:r>
              <a:rPr b="1" dirty="0"/>
              <a:t>Competitive overhead sports: 9–12 months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026" y="186147"/>
            <a:ext cx="8229600" cy="62009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3058"/>
            <a:ext cx="8229600" cy="5133105"/>
          </a:xfrm>
        </p:spPr>
        <p:txBody>
          <a:bodyPr>
            <a:normAutofit lnSpcReduction="10000"/>
          </a:bodyPr>
          <a:lstStyle/>
          <a:p>
            <a:r>
              <a:rPr b="1" dirty="0"/>
              <a:t>Maheswari J – Essential </a:t>
            </a:r>
            <a:r>
              <a:rPr b="1" dirty="0" err="1"/>
              <a:t>Orthopaedics</a:t>
            </a:r>
            <a:r>
              <a:rPr b="1" dirty="0"/>
              <a:t>.</a:t>
            </a:r>
          </a:p>
          <a:p>
            <a:r>
              <a:rPr b="1" dirty="0" err="1"/>
              <a:t>Ebnezar</a:t>
            </a:r>
            <a:r>
              <a:rPr b="1" dirty="0"/>
              <a:t> J – Textbook of </a:t>
            </a:r>
            <a:r>
              <a:rPr b="1" dirty="0" err="1"/>
              <a:t>Orthopaedics</a:t>
            </a:r>
            <a:r>
              <a:rPr b="1" dirty="0"/>
              <a:t>.</a:t>
            </a:r>
          </a:p>
          <a:p>
            <a:r>
              <a:rPr b="1" dirty="0"/>
              <a:t>Apley’s System of </a:t>
            </a:r>
            <a:r>
              <a:rPr b="1" dirty="0" err="1"/>
              <a:t>Orthopaedics</a:t>
            </a:r>
            <a:r>
              <a:rPr b="1" dirty="0"/>
              <a:t> &amp; Trauma.</a:t>
            </a:r>
          </a:p>
          <a:p>
            <a:r>
              <a:rPr b="1" dirty="0"/>
              <a:t>Magee – Orthopedic Physical Assessment.</a:t>
            </a:r>
          </a:p>
          <a:p>
            <a:r>
              <a:rPr b="1" dirty="0"/>
              <a:t>Brotzman – Clinical </a:t>
            </a:r>
            <a:r>
              <a:rPr b="1" dirty="0" err="1"/>
              <a:t>Orthopaedic</a:t>
            </a:r>
            <a:r>
              <a:rPr b="1" dirty="0"/>
              <a:t> Rehabilitation.</a:t>
            </a:r>
            <a:endParaRPr lang="en-IN" b="1" dirty="0"/>
          </a:p>
          <a:p>
            <a:r>
              <a:rPr lang="en-IN" b="1" dirty="0"/>
              <a:t>Wilk KE et al. J </a:t>
            </a:r>
            <a:r>
              <a:rPr lang="en-IN" b="1" dirty="0" err="1"/>
              <a:t>Orthop</a:t>
            </a:r>
            <a:r>
              <a:rPr lang="en-IN" b="1" dirty="0"/>
              <a:t> Sports Phys Ther. 2015</a:t>
            </a:r>
          </a:p>
          <a:p>
            <a:r>
              <a:rPr lang="en-IN" b="1" dirty="0"/>
              <a:t>Thigpen CA et al. J Shoulder Elbow Surg. 2016 (ASSET Consensus)</a:t>
            </a:r>
          </a:p>
          <a:p>
            <a:r>
              <a:rPr lang="en-IN" b="1" dirty="0"/>
              <a:t>Kibler WB &amp; Sciascia A. Br J Sports Med. 2012</a:t>
            </a:r>
          </a:p>
          <a:p>
            <a:r>
              <a:rPr lang="en-IN" b="1" dirty="0"/>
              <a:t>Kluczynski MA et al. Am J Sports Med. 2016</a:t>
            </a:r>
          </a:p>
          <a:p>
            <a:r>
              <a:rPr lang="en-IN" b="1" dirty="0"/>
              <a:t>Edwards PK et al. Arthroscopy. 2018</a:t>
            </a:r>
            <a:endParaRPr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81B84-6D1D-9AB8-4B92-12F88E0C1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7200" dirty="0"/>
              <a:t>       </a:t>
            </a:r>
          </a:p>
          <a:p>
            <a:pPr marL="0" indent="0">
              <a:buNone/>
            </a:pPr>
            <a:r>
              <a:rPr lang="en-IN" sz="7200" dirty="0"/>
              <a:t>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10352101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CD31C25D-0EEE-4C65-9EC2-0A2B5B14EBB0}" vid="{4A2B6B24-947A-43BA-884F-A820077057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</TotalTime>
  <Words>842</Words>
  <Application>Microsoft Office PowerPoint</Application>
  <PresentationFormat>On-screen Show (4:3)</PresentationFormat>
  <Paragraphs>134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Theme1</vt:lpstr>
      <vt:lpstr>PowerPoint Presentation</vt:lpstr>
      <vt:lpstr>Introduction</vt:lpstr>
      <vt:lpstr>SHOULDER ANATOMY  </vt:lpstr>
      <vt:lpstr>ROTATOR CUFF MUSCLES (SITS)</vt:lpstr>
      <vt:lpstr>SHOULDER MECHANICS</vt:lpstr>
      <vt:lpstr>PATHOMECHANICS</vt:lpstr>
      <vt:lpstr>CAUSES</vt:lpstr>
      <vt:lpstr>DEGREES OF TEARS</vt:lpstr>
      <vt:lpstr>CLINICAL ASSESSMENT</vt:lpstr>
      <vt:lpstr>SPECIAL TESTS</vt:lpstr>
      <vt:lpstr>INVESTIGATIONS</vt:lpstr>
      <vt:lpstr>POST‑OPERATIVE ROTATOR CUFF REPAIR REHABILITATION</vt:lpstr>
      <vt:lpstr>PHASE 1: PROTECTION PHASE (0–6 WEEKS)</vt:lpstr>
      <vt:lpstr>PHASE 2: PASSIVE → ACTIVE ASSISTED MOTION (6–12 WEEKS)</vt:lpstr>
      <vt:lpstr>PHASE 3: STRENGTHENING PHASE (12–20 WEEKS)</vt:lpstr>
      <vt:lpstr>PHASE 4: ADVANCED STRENGTHENING (20–26 WEEKS)</vt:lpstr>
      <vt:lpstr>PHASE 5: RETURN TO SPORTS (6–9 MONTHS)</vt:lpstr>
      <vt:lpstr>EXPECTED RETURN TIMELINE</vt:lpstr>
      <vt:lpstr>REFERENCES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Dhiraj A</dc:creator>
  <cp:keywords/>
  <dc:description>generated using python-pptx</dc:description>
  <cp:lastModifiedBy>Dhiraj A</cp:lastModifiedBy>
  <cp:revision>3</cp:revision>
  <dcterms:created xsi:type="dcterms:W3CDTF">2013-01-27T09:14:16Z</dcterms:created>
  <dcterms:modified xsi:type="dcterms:W3CDTF">2026-02-20T18:42:13Z</dcterms:modified>
  <cp:category/>
</cp:coreProperties>
</file>